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6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0B231-3A00-40A9-A358-D9D6F244C2C8}" type="datetimeFigureOut">
              <a:rPr lang="en-SG" smtClean="0"/>
              <a:t>27/8/2026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19595-0D90-4D0C-A27A-4FBA8A2759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50524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This is a small proof of a governed operating pattern for cloud compliance. The question is whether AI can help teams move faster while authority, approval, and evidence remain controlled.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419595-0D90-4D0C-A27A-4FBA8A27598D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55674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 finding is only the start. Teams still need to understand it, select a safe fix, obtain approval, make the change, rescan, and retain evidence.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419595-0D90-4D0C-A27A-4FBA8A27598D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45276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CISA and NSA, "NSA and CISA Red and Blue Teams Share Top Ten Cybersecurity Misconfigurations," October 5, 2023, https://www.cisa.gov/news-events/cybersecurity-advisories/aa23-278a. Verizon Business, "2026 Data Breach Investigations Report," May 18, 2026, https://www.verizon.com/business/resources/reports/dbir/. The sources support recurring misconfigurations and vulnerability exploitation as a leading entry point; they do not prove AgentGuard prevents incidents or that AI caused them.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419595-0D90-4D0C-A27A-4FBA8A27598D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2606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The proposed answer is not an AI with full cloud permissions. The agent recommends through narrow tools, deterministic policy constrains the action, and people retain accountability for sensitive approval.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419595-0D90-4D0C-A27A-4FBA8A27598D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573406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The POC intentionally models one bucket and two controls so the control boundary is clear before discussing scale. It proves the operating loop locally, not a production cloud platform.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419595-0D90-4D0C-A27A-4FBA8A27598D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84004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The system finds two failed controls and prepares one exact remediation plan. Nothing changes yet: approval is required and mutation remains no.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419595-0D90-4D0C-A27A-4FBA8A27598D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071125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A matching one-time approval permits only the exact modeled plan. Both controls rescan as compliant, verification succeeds, and audit is recorded in local synthetic state.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419595-0D90-4D0C-A27A-4FBA8A27598D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11292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The negative path matters as much as the successful path. An attempted approval bypass is denied and the local control state does not change.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419595-0D90-4D0C-A27A-4FBA8A27598D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35737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The request is approval to continue evaluating this governed direction, not approval for production deployment. Technical requirements and design specification come only after management accepts the direction.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419595-0D90-4D0C-A27A-4FBA8A27598D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4194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9F607-1028-42F5-A4DA-B99B246184F6}" type="datetimeFigureOut">
              <a:rPr lang="en-SG" smtClean="0"/>
              <a:t>27/8/2026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FD8CB-8F5D-45ED-B7B0-7C601DE568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3961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9F607-1028-42F5-A4DA-B99B246184F6}" type="datetimeFigureOut">
              <a:rPr lang="en-SG" smtClean="0"/>
              <a:t>27/8/2026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FD8CB-8F5D-45ED-B7B0-7C601DE568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9128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9F607-1028-42F5-A4DA-B99B246184F6}" type="datetimeFigureOut">
              <a:rPr lang="en-SG" smtClean="0"/>
              <a:t>27/8/2026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FD8CB-8F5D-45ED-B7B0-7C601DE568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1707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9F607-1028-42F5-A4DA-B99B246184F6}" type="datetimeFigureOut">
              <a:rPr lang="en-SG" smtClean="0"/>
              <a:t>27/8/2026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FD8CB-8F5D-45ED-B7B0-7C601DE568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49382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9F607-1028-42F5-A4DA-B99B246184F6}" type="datetimeFigureOut">
              <a:rPr lang="en-SG" smtClean="0"/>
              <a:t>27/8/2026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FD8CB-8F5D-45ED-B7B0-7C601DE568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06926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9F607-1028-42F5-A4DA-B99B246184F6}" type="datetimeFigureOut">
              <a:rPr lang="en-SG" smtClean="0"/>
              <a:t>27/8/2026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FD8CB-8F5D-45ED-B7B0-7C601DE568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3667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9F607-1028-42F5-A4DA-B99B246184F6}" type="datetimeFigureOut">
              <a:rPr lang="en-SG" smtClean="0"/>
              <a:t>27/8/2026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FD8CB-8F5D-45ED-B7B0-7C601DE568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6517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9F607-1028-42F5-A4DA-B99B246184F6}" type="datetimeFigureOut">
              <a:rPr lang="en-SG" smtClean="0"/>
              <a:t>27/8/2026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FD8CB-8F5D-45ED-B7B0-7C601DE568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5645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9F607-1028-42F5-A4DA-B99B246184F6}" type="datetimeFigureOut">
              <a:rPr lang="en-SG" smtClean="0"/>
              <a:t>27/8/2026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FD8CB-8F5D-45ED-B7B0-7C601DE568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8965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9F607-1028-42F5-A4DA-B99B246184F6}" type="datetimeFigureOut">
              <a:rPr lang="en-SG" smtClean="0"/>
              <a:t>27/8/2026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FD8CB-8F5D-45ED-B7B0-7C601DE568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8654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9F607-1028-42F5-A4DA-B99B246184F6}" type="datetimeFigureOut">
              <a:rPr lang="en-SG" smtClean="0"/>
              <a:t>27/8/2026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FD8CB-8F5D-45ED-B7B0-7C601DE568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10562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9F607-1028-42F5-A4DA-B99B246184F6}" type="datetimeFigureOut">
              <a:rPr lang="en-SG" smtClean="0"/>
              <a:t>27/8/2026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FD8CB-8F5D-45ED-B7B0-7C601DE568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7639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889000" y="1524000"/>
            <a:ext cx="104140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4400" b="1" smtClean="0">
                <a:solidFill>
                  <a:srgbClr val="0F766E"/>
                </a:solidFill>
                <a:latin typeface="Arial" panose="020B0604020202020204" pitchFamily="34" charset="0"/>
              </a:rPr>
              <a:t>Compliance. Guarded. Action.</a:t>
            </a:r>
            <a:endParaRPr lang="en-SG" sz="440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0" y="27940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400" b="1" smtClean="0">
                <a:solidFill>
                  <a:srgbClr val="132238"/>
                </a:solidFill>
                <a:latin typeface="Arial" panose="020B0604020202020204" pitchFamily="34" charset="0"/>
              </a:rPr>
              <a:t>Compliance Guard - powered by AgentGuard</a:t>
            </a:r>
            <a:endParaRPr lang="en-SG" sz="2400" b="1">
              <a:solidFill>
                <a:srgbClr val="132238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05000" y="3708400"/>
            <a:ext cx="8382000" cy="9694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100" smtClean="0">
                <a:solidFill>
                  <a:srgbClr val="5B6B7C"/>
                </a:solidFill>
                <a:latin typeface="Arial" panose="020B0604020202020204" pitchFamily="34" charset="0"/>
              </a:rPr>
              <a:t>Faster cloud compliance work without giving AI unchecked authority.</a:t>
            </a:r>
          </a:p>
          <a:p>
            <a:pPr algn="ctr"/>
            <a:endParaRPr lang="en-US" sz="2100" smtClean="0">
              <a:solidFill>
                <a:srgbClr val="5B6B7C"/>
              </a:solidFill>
              <a:latin typeface="Arial" panose="020B0604020202020204" pitchFamily="34" charset="0"/>
            </a:endParaRPr>
          </a:p>
          <a:p>
            <a:pPr algn="ctr"/>
            <a:r>
              <a:rPr lang="en-US" sz="2100" smtClean="0">
                <a:solidFill>
                  <a:srgbClr val="5B6B7C"/>
                </a:solidFill>
                <a:latin typeface="Arial" panose="020B0604020202020204" pitchFamily="34" charset="0"/>
              </a:rPr>
              <a:t>Find faster. Approve safely. Verify every result.</a:t>
            </a:r>
            <a:endParaRPr lang="en-SG" sz="2100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26000" y="57785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1100" b="1" smtClean="0">
                <a:solidFill>
                  <a:srgbClr val="0369A1"/>
                </a:solidFill>
                <a:latin typeface="Arial" panose="020B0604020202020204" pitchFamily="34" charset="0"/>
              </a:rPr>
              <a:t>LOCAL SYNTHETIC POC</a:t>
            </a:r>
            <a:endParaRPr lang="en-SG" sz="1100" b="1">
              <a:solidFill>
                <a:srgbClr val="0369A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17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003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 smtClean="0">
                <a:solidFill>
                  <a:srgbClr val="0F766E"/>
                </a:solidFill>
                <a:latin typeface="Arial" panose="020B0604020202020204" pitchFamily="34" charset="0"/>
              </a:rPr>
              <a:t>The problem: a growing remediation gap</a:t>
            </a:r>
            <a:endParaRPr lang="en-SG" sz="280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96500" y="3683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1100" b="1" smtClean="0">
                <a:solidFill>
                  <a:srgbClr val="5B6B7C"/>
                </a:solidFill>
                <a:latin typeface="Arial" panose="020B0604020202020204" pitchFamily="34" charset="0"/>
              </a:rPr>
              <a:t>Compliance Guard</a:t>
            </a:r>
            <a:endParaRPr lang="en-SG" sz="1100" b="1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935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900" smtClean="0">
                <a:solidFill>
                  <a:srgbClr val="5B6B7C"/>
                </a:solidFill>
                <a:latin typeface="Arial" panose="020B0604020202020204" pitchFamily="34" charset="0"/>
              </a:rPr>
              <a:t>2</a:t>
            </a:r>
            <a:endParaRPr lang="en-SG" sz="900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117600"/>
            <a:ext cx="111125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smtClean="0">
                <a:solidFill>
                  <a:srgbClr val="132238"/>
                </a:solidFill>
                <a:latin typeface="Arial" panose="020B0604020202020204" pitchFamily="34" charset="0"/>
              </a:rPr>
              <a:t>Cloud compliance work grows with the environment. Repeated manual remediation does not scale at the same speed.</a:t>
            </a:r>
            <a:endParaRPr lang="en-SG" sz="2200" b="1">
              <a:solidFill>
                <a:srgbClr val="132238"/>
              </a:solidFill>
              <a:latin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33400" y="2032000"/>
            <a:ext cx="11112500" cy="86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/>
          <p:cNvSpPr txBox="1"/>
          <p:nvPr/>
        </p:nvSpPr>
        <p:spPr>
          <a:xfrm>
            <a:off x="787400" y="2235200"/>
            <a:ext cx="10604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 smtClean="0">
                <a:solidFill>
                  <a:srgbClr val="0F766E"/>
                </a:solidFill>
                <a:latin typeface="Arial" panose="020B0604020202020204" pitchFamily="34" charset="0"/>
              </a:rPr>
              <a:t>Failed control → investigate → choose fix → approve → change → rescan → evidence</a:t>
            </a:r>
            <a:endParaRPr lang="en-SG" sz="170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7400" y="3200400"/>
            <a:ext cx="10414000" cy="204671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smtClean="0">
                <a:solidFill>
                  <a:srgbClr val="132238"/>
                </a:solidFill>
                <a:latin typeface="Arial" panose="020B0604020202020204" pitchFamily="34" charset="0"/>
              </a:rPr>
              <a:t>• Every failed control starts a chain of human and operational work.</a:t>
            </a:r>
          </a:p>
          <a:p>
            <a:endParaRPr lang="en-US" sz="19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900" smtClean="0">
                <a:solidFill>
                  <a:srgbClr val="132238"/>
                </a:solidFill>
                <a:latin typeface="Arial" panose="020B0604020202020204" pitchFamily="34" charset="0"/>
              </a:rPr>
              <a:t>• Fragmented steps delay the move from NON_COMPLIANT to verified resolution.</a:t>
            </a:r>
          </a:p>
          <a:p>
            <a:endParaRPr lang="en-US" sz="19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900" smtClean="0">
                <a:solidFill>
                  <a:srgbClr val="132238"/>
                </a:solidFill>
                <a:latin typeface="Arial" panose="020B0604020202020204" pitchFamily="34" charset="0"/>
              </a:rPr>
              <a:t>• More accounts, resources, and controls make the same gap repeat more often.</a:t>
            </a:r>
          </a:p>
          <a:p>
            <a:endParaRPr lang="en-US" sz="19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900" smtClean="0">
                <a:solidFill>
                  <a:srgbClr val="132238"/>
                </a:solidFill>
                <a:latin typeface="Arial" panose="020B0604020202020204" pitchFamily="34" charset="0"/>
              </a:rPr>
              <a:t>Goal: shorten the gap without weakening governance.</a:t>
            </a:r>
            <a:endParaRPr lang="en-SG" sz="1900">
              <a:solidFill>
                <a:srgbClr val="13223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05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003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2800" b="1" smtClean="0">
                <a:solidFill>
                  <a:srgbClr val="0F766E"/>
                </a:solidFill>
                <a:latin typeface="Arial" panose="020B0604020202020204" pitchFamily="34" charset="0"/>
              </a:rPr>
              <a:t>Why this matters now</a:t>
            </a:r>
            <a:endParaRPr lang="en-SG" sz="280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96500" y="3683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1100" b="1" smtClean="0">
                <a:solidFill>
                  <a:srgbClr val="5B6B7C"/>
                </a:solidFill>
                <a:latin typeface="Arial" panose="020B0604020202020204" pitchFamily="34" charset="0"/>
              </a:rPr>
              <a:t>Compliance Guard</a:t>
            </a:r>
            <a:endParaRPr lang="en-SG" sz="1100" b="1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935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900" smtClean="0">
                <a:solidFill>
                  <a:srgbClr val="5B6B7C"/>
                </a:solidFill>
                <a:latin typeface="Arial" panose="020B0604020202020204" pitchFamily="34" charset="0"/>
              </a:rPr>
              <a:t>3</a:t>
            </a:r>
            <a:endParaRPr lang="en-SG" sz="900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33400" y="1270000"/>
            <a:ext cx="5270500" cy="162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/>
          <p:cNvSpPr txBox="1"/>
          <p:nvPr/>
        </p:nvSpPr>
        <p:spPr>
          <a:xfrm>
            <a:off x="838200" y="1600200"/>
            <a:ext cx="4635500" cy="67710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smtClean="0">
                <a:solidFill>
                  <a:srgbClr val="0F766E"/>
                </a:solidFill>
                <a:latin typeface="Arial" panose="020B0604020202020204" pitchFamily="34" charset="0"/>
              </a:rPr>
              <a:t>Systemic misconfigurations persist - CISA and NSA, 2023</a:t>
            </a:r>
            <a:endParaRPr lang="en-SG" sz="220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50000" y="1270000"/>
            <a:ext cx="5270500" cy="162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TextBox 8"/>
          <p:cNvSpPr txBox="1"/>
          <p:nvPr/>
        </p:nvSpPr>
        <p:spPr>
          <a:xfrm>
            <a:off x="6654800" y="1600200"/>
            <a:ext cx="46355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 smtClean="0">
                <a:solidFill>
                  <a:srgbClr val="0369A1"/>
                </a:solidFill>
                <a:latin typeface="Arial" panose="020B0604020202020204" pitchFamily="34" charset="0"/>
              </a:rPr>
              <a:t>31% of breaches start with software vulnerabilities - Verizon DBIR, 2026</a:t>
            </a:r>
            <a:endParaRPr lang="en-SG" sz="2200" b="1">
              <a:solidFill>
                <a:srgbClr val="0369A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7400" y="3429000"/>
            <a:ext cx="10541000" cy="14619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smtClean="0">
                <a:solidFill>
                  <a:srgbClr val="132238"/>
                </a:solidFill>
                <a:latin typeface="Arial" panose="020B0604020202020204" pitchFamily="34" charset="0"/>
              </a:rPr>
              <a:t>These sources establish urgency. They do not prove AgentGuard effectiveness, S3 compliance scale, or that AI caused these incidents.</a:t>
            </a:r>
          </a:p>
          <a:p>
            <a:endParaRPr lang="en-US" sz="19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900" smtClean="0">
                <a:solidFill>
                  <a:srgbClr val="132238"/>
                </a:solidFill>
                <a:latin typeface="Arial" panose="020B0604020202020204" pitchFamily="34" charset="0"/>
              </a:rPr>
              <a:t>Inference: reducing avoidable defensive delay is useful when remediation authority remains controlled.</a:t>
            </a:r>
            <a:endParaRPr lang="en-SG" sz="1900">
              <a:solidFill>
                <a:srgbClr val="132238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7400" y="58420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100" smtClean="0">
                <a:solidFill>
                  <a:srgbClr val="5B6B7C"/>
                </a:solidFill>
                <a:latin typeface="Arial" panose="020B0604020202020204" pitchFamily="34" charset="0"/>
              </a:rPr>
              <a:t>Sources: CISA / NSA (2023) | Verizon DBIR (2026)</a:t>
            </a:r>
            <a:endParaRPr lang="en-SG" sz="1100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861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003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 smtClean="0">
                <a:solidFill>
                  <a:srgbClr val="0F766E"/>
                </a:solidFill>
                <a:latin typeface="Arial" panose="020B0604020202020204" pitchFamily="34" charset="0"/>
              </a:rPr>
              <a:t>Proposed solution: governed agentic assistance</a:t>
            </a:r>
            <a:endParaRPr lang="en-SG" sz="280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96500" y="3683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1100" b="1" smtClean="0">
                <a:solidFill>
                  <a:srgbClr val="5B6B7C"/>
                </a:solidFill>
                <a:latin typeface="Arial" panose="020B0604020202020204" pitchFamily="34" charset="0"/>
              </a:rPr>
              <a:t>Compliance Guard</a:t>
            </a:r>
            <a:endParaRPr lang="en-SG" sz="1100" b="1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935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900" smtClean="0">
                <a:solidFill>
                  <a:srgbClr val="5B6B7C"/>
                </a:solidFill>
                <a:latin typeface="Arial" panose="020B0604020202020204" pitchFamily="34" charset="0"/>
              </a:rPr>
              <a:t>4</a:t>
            </a:r>
            <a:endParaRPr lang="en-SG" sz="900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041400"/>
            <a:ext cx="11112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400" b="1" smtClean="0">
                <a:solidFill>
                  <a:srgbClr val="0369A1"/>
                </a:solidFill>
                <a:latin typeface="Arial" panose="020B0604020202020204" pitchFamily="34" charset="0"/>
              </a:rPr>
              <a:t>Use AI for speed. Keep authority governed.</a:t>
            </a:r>
            <a:endParaRPr lang="en-SG" sz="2400" b="1">
              <a:solidFill>
                <a:srgbClr val="0369A1"/>
              </a:solidFill>
              <a:latin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87400" y="1841500"/>
            <a:ext cx="10604500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/>
          <p:cNvSpPr txBox="1"/>
          <p:nvPr/>
        </p:nvSpPr>
        <p:spPr>
          <a:xfrm>
            <a:off x="1066800" y="2006600"/>
            <a:ext cx="1003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Narrow tools: the agent sees aliases and an allowlisted scope.</a:t>
            </a:r>
            <a:endParaRPr lang="en-SG" sz="1700">
              <a:solidFill>
                <a:srgbClr val="132238"/>
              </a:solidFill>
              <a:latin typeface="Arial" panose="020B06040202020202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87400" y="2730500"/>
            <a:ext cx="10604500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Box 9"/>
          <p:cNvSpPr txBox="1"/>
          <p:nvPr/>
        </p:nvSpPr>
        <p:spPr>
          <a:xfrm>
            <a:off x="1066800" y="2895600"/>
            <a:ext cx="1003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Exact proposal: the trusted server creates one typed remediation plan.</a:t>
            </a:r>
            <a:endParaRPr lang="en-SG" sz="1700">
              <a:solidFill>
                <a:srgbClr val="132238"/>
              </a:solidFill>
              <a:latin typeface="Arial" panose="020B06040202020202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87400" y="3619500"/>
            <a:ext cx="10604500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TextBox 11"/>
          <p:cNvSpPr txBox="1"/>
          <p:nvPr/>
        </p:nvSpPr>
        <p:spPr>
          <a:xfrm>
            <a:off x="1066800" y="3784600"/>
            <a:ext cx="1003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Deterministic control: policy returns ALLOW, DENY, or APPROVAL REQUIRED.</a:t>
            </a:r>
            <a:endParaRPr lang="en-SG" sz="1700">
              <a:solidFill>
                <a:srgbClr val="132238"/>
              </a:solidFill>
              <a:latin typeface="Arial" panose="020B0604020202020204" pitchFamily="3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87400" y="4508500"/>
            <a:ext cx="10604500" cy="711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TextBox 13"/>
          <p:cNvSpPr txBox="1"/>
          <p:nvPr/>
        </p:nvSpPr>
        <p:spPr>
          <a:xfrm>
            <a:off x="1066800" y="4673600"/>
            <a:ext cx="1003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Accountable action: people approve sensitive remediation; the system verifies and records the result.</a:t>
            </a:r>
            <a:endParaRPr lang="en-SG" sz="1700">
              <a:solidFill>
                <a:srgbClr val="132238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7400" y="5651500"/>
            <a:ext cx="1060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 smtClean="0">
                <a:solidFill>
                  <a:srgbClr val="0F766E"/>
                </a:solidFill>
                <a:latin typeface="Arial" panose="020B0604020202020204" pitchFamily="34" charset="0"/>
              </a:rPr>
              <a:t>The agent accelerates the work. Policy constrains authority.</a:t>
            </a:r>
            <a:endParaRPr lang="en-SG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520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003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2800" b="1" smtClean="0">
                <a:solidFill>
                  <a:srgbClr val="0F766E"/>
                </a:solidFill>
                <a:latin typeface="Arial" panose="020B0604020202020204" pitchFamily="34" charset="0"/>
              </a:rPr>
              <a:t>One simple operating loop</a:t>
            </a:r>
            <a:endParaRPr lang="en-SG" sz="280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96500" y="3683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1100" b="1" smtClean="0">
                <a:solidFill>
                  <a:srgbClr val="5B6B7C"/>
                </a:solidFill>
                <a:latin typeface="Arial" panose="020B0604020202020204" pitchFamily="34" charset="0"/>
              </a:rPr>
              <a:t>Compliance Guard</a:t>
            </a:r>
            <a:endParaRPr lang="en-SG" sz="1100" b="1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935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900" smtClean="0">
                <a:solidFill>
                  <a:srgbClr val="5B6B7C"/>
                </a:solidFill>
                <a:latin typeface="Arial" panose="020B0604020202020204" pitchFamily="34" charset="0"/>
              </a:rPr>
              <a:t>5</a:t>
            </a:r>
            <a:endParaRPr lang="en-SG" sz="900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33400" y="1270000"/>
            <a:ext cx="11112500" cy="116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/>
          <p:cNvSpPr txBox="1"/>
          <p:nvPr/>
        </p:nvSpPr>
        <p:spPr>
          <a:xfrm>
            <a:off x="787400" y="1587500"/>
            <a:ext cx="10604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300" b="1" smtClean="0">
                <a:solidFill>
                  <a:srgbClr val="0F766E"/>
                </a:solidFill>
                <a:latin typeface="Arial" panose="020B0604020202020204" pitchFamily="34" charset="0"/>
              </a:rPr>
              <a:t>Find → Explain → Recommend → Approve → Remediate → Verify</a:t>
            </a:r>
            <a:endParaRPr lang="en-SG" sz="230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7400" y="2921000"/>
            <a:ext cx="10604500" cy="36933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smtClean="0">
                <a:solidFill>
                  <a:srgbClr val="132238"/>
                </a:solidFill>
                <a:latin typeface="Arial" panose="020B0604020202020204" pitchFamily="34" charset="0"/>
              </a:rPr>
              <a:t>AgentGuard accelerates investigation and recommendation while policy and human approval control sensitive action.</a:t>
            </a:r>
          </a:p>
          <a:p>
            <a:endParaRPr lang="en-US" sz="20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2000" smtClean="0">
                <a:solidFill>
                  <a:srgbClr val="132238"/>
                </a:solidFill>
                <a:latin typeface="Arial" panose="020B0604020202020204" pitchFamily="34" charset="0"/>
              </a:rPr>
              <a:t>Current POC boundary</a:t>
            </a:r>
          </a:p>
          <a:p>
            <a:endParaRPr lang="en-US" sz="20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2000" smtClean="0">
                <a:solidFill>
                  <a:srgbClr val="132238"/>
                </a:solidFill>
                <a:latin typeface="Arial" panose="020B0604020202020204" pitchFamily="34" charset="0"/>
              </a:rPr>
              <a:t>• one synthetic S3 bucket;</a:t>
            </a:r>
          </a:p>
          <a:p>
            <a:endParaRPr lang="en-US" sz="20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2000" smtClean="0">
                <a:solidFill>
                  <a:srgbClr val="132238"/>
                </a:solidFill>
                <a:latin typeface="Arial" panose="020B0604020202020204" pitchFamily="34" charset="0"/>
              </a:rPr>
              <a:t>• two fixed compliance controls;</a:t>
            </a:r>
          </a:p>
          <a:p>
            <a:endParaRPr lang="en-US" sz="20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2000" smtClean="0">
                <a:solidFill>
                  <a:srgbClr val="132238"/>
                </a:solidFill>
                <a:latin typeface="Arial" panose="020B0604020202020204" pitchFamily="34" charset="0"/>
              </a:rPr>
              <a:t>• local modeled remediation only;</a:t>
            </a:r>
          </a:p>
          <a:p>
            <a:endParaRPr lang="en-US" sz="20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2000" smtClean="0">
                <a:solidFill>
                  <a:srgbClr val="132238"/>
                </a:solidFill>
                <a:latin typeface="Arial" panose="020B0604020202020204" pitchFamily="34" charset="0"/>
              </a:rPr>
              <a:t>• no live AWS execution.</a:t>
            </a:r>
            <a:endParaRPr lang="en-SG" sz="2000">
              <a:solidFill>
                <a:srgbClr val="132238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741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003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 smtClean="0">
                <a:solidFill>
                  <a:srgbClr val="0F766E"/>
                </a:solidFill>
                <a:latin typeface="Arial" panose="020B0604020202020204" pitchFamily="34" charset="0"/>
              </a:rPr>
              <a:t>Proof 1: the exact proposal pauses</a:t>
            </a:r>
            <a:endParaRPr lang="en-SG" sz="280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96500" y="3683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1100" b="1" smtClean="0">
                <a:solidFill>
                  <a:srgbClr val="5B6B7C"/>
                </a:solidFill>
                <a:latin typeface="Arial" panose="020B0604020202020204" pitchFamily="34" charset="0"/>
              </a:rPr>
              <a:t>Compliance Guard</a:t>
            </a:r>
            <a:endParaRPr lang="en-SG" sz="1100" b="1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935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900" smtClean="0">
                <a:solidFill>
                  <a:srgbClr val="5B6B7C"/>
                </a:solidFill>
                <a:latin typeface="Arial" panose="020B0604020202020204" pitchFamily="34" charset="0"/>
              </a:rPr>
              <a:t>6</a:t>
            </a:r>
            <a:endParaRPr lang="en-SG" sz="900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333500"/>
            <a:ext cx="3200400" cy="261610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• two controls: NON_COMPLIANT</a:t>
            </a:r>
          </a:p>
          <a:p>
            <a:endParaRPr lang="en-US" sz="17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• decision: APPROVAL REQUIRED</a:t>
            </a:r>
          </a:p>
          <a:p>
            <a:endParaRPr lang="en-US" sz="17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• reason: human approval required</a:t>
            </a:r>
          </a:p>
          <a:p>
            <a:endParaRPr lang="en-US" sz="17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• mutation: NO</a:t>
            </a:r>
            <a:endParaRPr lang="en-SG" sz="1700">
              <a:solidFill>
                <a:srgbClr val="132238"/>
              </a:solidFill>
              <a:latin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937000" y="990600"/>
            <a:ext cx="7810500" cy="533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184" y="1738300"/>
            <a:ext cx="5118132" cy="3838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5638800"/>
            <a:ext cx="355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1700" b="1" smtClean="0">
                <a:solidFill>
                  <a:srgbClr val="B45309"/>
                </a:solidFill>
                <a:latin typeface="Arial" panose="020B0604020202020204" pitchFamily="34" charset="0"/>
              </a:rPr>
              <a:t>APPROVAL REQUIRED</a:t>
            </a:r>
            <a:endParaRPr lang="en-SG" sz="1700" b="1">
              <a:solidFill>
                <a:srgbClr val="B45309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61722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900" b="1" smtClean="0">
                <a:solidFill>
                  <a:srgbClr val="5B6B7C"/>
                </a:solidFill>
                <a:latin typeface="Arial" panose="020B0604020202020204" pitchFamily="34" charset="0"/>
              </a:rPr>
              <a:t>DEMO-PROVEN | LOCAL SYNTHETIC POC</a:t>
            </a:r>
            <a:endParaRPr lang="en-SG" sz="900" b="1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498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003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 smtClean="0">
                <a:solidFill>
                  <a:srgbClr val="0F766E"/>
                </a:solidFill>
                <a:latin typeface="Arial" panose="020B0604020202020204" pitchFamily="34" charset="0"/>
              </a:rPr>
              <a:t>Proof 2: approved action is verified</a:t>
            </a:r>
            <a:endParaRPr lang="en-SG" sz="280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96500" y="3683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1100" b="1" smtClean="0">
                <a:solidFill>
                  <a:srgbClr val="5B6B7C"/>
                </a:solidFill>
                <a:latin typeface="Arial" panose="020B0604020202020204" pitchFamily="34" charset="0"/>
              </a:rPr>
              <a:t>Compliance Guard</a:t>
            </a:r>
            <a:endParaRPr lang="en-SG" sz="1100" b="1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935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900" smtClean="0">
                <a:solidFill>
                  <a:srgbClr val="5B6B7C"/>
                </a:solidFill>
                <a:latin typeface="Arial" panose="020B0604020202020204" pitchFamily="34" charset="0"/>
              </a:rPr>
              <a:t>7</a:t>
            </a:r>
            <a:endParaRPr lang="en-SG" sz="900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333500"/>
            <a:ext cx="3200400" cy="209288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• decision: ALLOW / APPROVAL_VALID</a:t>
            </a:r>
          </a:p>
          <a:p>
            <a:endParaRPr lang="en-US" sz="17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• both controls: COMPLIANT</a:t>
            </a:r>
          </a:p>
          <a:p>
            <a:endParaRPr lang="en-US" sz="17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• mutation: YES; verified: YES</a:t>
            </a:r>
          </a:p>
          <a:p>
            <a:endParaRPr lang="en-US" sz="17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• audit: RECORDED</a:t>
            </a:r>
            <a:endParaRPr lang="en-SG" sz="1700">
              <a:solidFill>
                <a:srgbClr val="132238"/>
              </a:solidFill>
              <a:latin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937000" y="990600"/>
            <a:ext cx="7810500" cy="533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184" y="1738300"/>
            <a:ext cx="5118132" cy="3838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5638800"/>
            <a:ext cx="355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1700" b="1" smtClean="0">
                <a:solidFill>
                  <a:srgbClr val="15803D"/>
                </a:solidFill>
                <a:latin typeface="Arial" panose="020B0604020202020204" pitchFamily="34" charset="0"/>
              </a:rPr>
              <a:t>APPROVED + VERIFIED</a:t>
            </a:r>
            <a:endParaRPr lang="en-SG" sz="1700" b="1">
              <a:solidFill>
                <a:srgbClr val="15803D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61722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900" b="1" smtClean="0">
                <a:solidFill>
                  <a:srgbClr val="5B6B7C"/>
                </a:solidFill>
                <a:latin typeface="Arial" panose="020B0604020202020204" pitchFamily="34" charset="0"/>
              </a:rPr>
              <a:t>DEMO-PROVEN | LOCAL SYNTHETIC POC</a:t>
            </a:r>
            <a:endParaRPr lang="en-SG" sz="900" b="1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969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003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800" b="1" smtClean="0">
                <a:solidFill>
                  <a:srgbClr val="0F766E"/>
                </a:solidFill>
                <a:latin typeface="Arial" panose="020B0604020202020204" pitchFamily="34" charset="0"/>
              </a:rPr>
              <a:t>Safety proof: approval cannot be bypassed</a:t>
            </a:r>
            <a:endParaRPr lang="en-SG" sz="280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96500" y="3683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1100" b="1" smtClean="0">
                <a:solidFill>
                  <a:srgbClr val="5B6B7C"/>
                </a:solidFill>
                <a:latin typeface="Arial" panose="020B0604020202020204" pitchFamily="34" charset="0"/>
              </a:rPr>
              <a:t>Compliance Guard</a:t>
            </a:r>
            <a:endParaRPr lang="en-SG" sz="1100" b="1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935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900" smtClean="0">
                <a:solidFill>
                  <a:srgbClr val="5B6B7C"/>
                </a:solidFill>
                <a:latin typeface="Arial" panose="020B0604020202020204" pitchFamily="34" charset="0"/>
              </a:rPr>
              <a:t>8</a:t>
            </a:r>
            <a:endParaRPr lang="en-SG" sz="900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1333500"/>
            <a:ext cx="3200400" cy="31393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• decision: DENY</a:t>
            </a:r>
          </a:p>
          <a:p>
            <a:endParaRPr lang="en-US" sz="17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• reason: human approval required</a:t>
            </a:r>
          </a:p>
          <a:p>
            <a:endParaRPr lang="en-US" sz="17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• both controls remain NON_COMPLIANT</a:t>
            </a:r>
          </a:p>
          <a:p>
            <a:endParaRPr lang="en-US" sz="17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• mutation: NO; verified: NO</a:t>
            </a:r>
          </a:p>
          <a:p>
            <a:endParaRPr lang="en-US" sz="17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700" smtClean="0">
                <a:solidFill>
                  <a:srgbClr val="132238"/>
                </a:solidFill>
                <a:latin typeface="Arial" panose="020B0604020202020204" pitchFamily="34" charset="0"/>
              </a:rPr>
              <a:t>Agentic speed does not become agentic authority.</a:t>
            </a:r>
            <a:endParaRPr lang="en-SG" sz="1700">
              <a:solidFill>
                <a:srgbClr val="132238"/>
              </a:solidFill>
              <a:latin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937000" y="990600"/>
            <a:ext cx="7810500" cy="533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184" y="1738300"/>
            <a:ext cx="5118132" cy="3838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5638800"/>
            <a:ext cx="3556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1700" b="1" smtClean="0">
                <a:solidFill>
                  <a:srgbClr val="B91C1C"/>
                </a:solidFill>
                <a:latin typeface="Arial" panose="020B0604020202020204" pitchFamily="34" charset="0"/>
              </a:rPr>
              <a:t>BYPASS DENIED</a:t>
            </a:r>
            <a:endParaRPr lang="en-SG" sz="1700" b="1">
              <a:solidFill>
                <a:srgbClr val="B91C1C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6172200"/>
            <a:ext cx="3556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900" b="1" smtClean="0">
                <a:solidFill>
                  <a:srgbClr val="5B6B7C"/>
                </a:solidFill>
                <a:latin typeface="Arial" panose="020B0604020202020204" pitchFamily="34" charset="0"/>
              </a:rPr>
              <a:t>DEMO-PROVEN | LOCAL SYNTHETIC POC</a:t>
            </a:r>
            <a:endParaRPr lang="en-SG" sz="900" b="1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724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" name="TextBox 2"/>
          <p:cNvSpPr txBox="1"/>
          <p:nvPr/>
        </p:nvSpPr>
        <p:spPr>
          <a:xfrm>
            <a:off x="533400" y="304800"/>
            <a:ext cx="10033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SG" sz="2800" b="1" smtClean="0">
                <a:solidFill>
                  <a:srgbClr val="0F766E"/>
                </a:solidFill>
                <a:latin typeface="Arial" panose="020B0604020202020204" pitchFamily="34" charset="0"/>
              </a:rPr>
              <a:t>Value and decision requested</a:t>
            </a:r>
            <a:endParaRPr lang="en-SG" sz="280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096500" y="368300"/>
            <a:ext cx="158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1100" b="1" smtClean="0">
                <a:solidFill>
                  <a:srgbClr val="5B6B7C"/>
                </a:solidFill>
                <a:latin typeface="Arial" panose="020B0604020202020204" pitchFamily="34" charset="0"/>
              </a:rPr>
              <a:t>Compliance Guard</a:t>
            </a:r>
            <a:endParaRPr lang="en-SG" sz="1100" b="1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93500" y="6451600"/>
            <a:ext cx="254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sz="900" smtClean="0">
                <a:solidFill>
                  <a:srgbClr val="5B6B7C"/>
                </a:solidFill>
                <a:latin typeface="Arial" panose="020B0604020202020204" pitchFamily="34" charset="0"/>
              </a:rPr>
              <a:t>9</a:t>
            </a:r>
            <a:endParaRPr lang="en-SG" sz="900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0400" y="1206500"/>
            <a:ext cx="5080000" cy="32162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smtClean="0">
                <a:solidFill>
                  <a:srgbClr val="132238"/>
                </a:solidFill>
                <a:latin typeface="Arial" panose="020B0604020202020204" pitchFamily="34" charset="0"/>
              </a:rPr>
              <a:t>• reduce repetitive investigation and remediation coordination;</a:t>
            </a:r>
          </a:p>
          <a:p>
            <a:endParaRPr lang="en-US" sz="19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900" smtClean="0">
                <a:solidFill>
                  <a:srgbClr val="132238"/>
                </a:solidFill>
                <a:latin typeface="Arial" panose="020B0604020202020204" pitchFamily="34" charset="0"/>
              </a:rPr>
              <a:t>• shorten time from finding to verified resolution;</a:t>
            </a:r>
          </a:p>
          <a:p>
            <a:endParaRPr lang="en-US" sz="19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900" smtClean="0">
                <a:solidFill>
                  <a:srgbClr val="132238"/>
                </a:solidFill>
                <a:latin typeface="Arial" panose="020B0604020202020204" pitchFamily="34" charset="0"/>
              </a:rPr>
              <a:t>• improve consistency of approved remediation;</a:t>
            </a:r>
          </a:p>
          <a:p>
            <a:endParaRPr lang="en-US" sz="1900" smtClean="0">
              <a:solidFill>
                <a:srgbClr val="132238"/>
              </a:solidFill>
              <a:latin typeface="Arial" panose="020B0604020202020204" pitchFamily="34" charset="0"/>
            </a:endParaRPr>
          </a:p>
          <a:p>
            <a:r>
              <a:rPr lang="en-US" sz="1900" smtClean="0">
                <a:solidFill>
                  <a:srgbClr val="132238"/>
                </a:solidFill>
                <a:latin typeface="Arial" panose="020B0604020202020204" pitchFamily="34" charset="0"/>
              </a:rPr>
              <a:t>• make rescan and evidence part of the normal workflow.</a:t>
            </a:r>
            <a:endParaRPr lang="en-SG" sz="1900">
              <a:solidFill>
                <a:srgbClr val="132238"/>
              </a:solidFill>
              <a:latin typeface="Arial" panose="020B060402020202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50000" y="1270000"/>
            <a:ext cx="5270500" cy="393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/>
          <p:cNvSpPr txBox="1"/>
          <p:nvPr/>
        </p:nvSpPr>
        <p:spPr>
          <a:xfrm>
            <a:off x="6705600" y="1587500"/>
            <a:ext cx="4572000" cy="106182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300" b="1" smtClean="0">
                <a:solidFill>
                  <a:srgbClr val="0F766E"/>
                </a:solidFill>
                <a:latin typeface="Arial" panose="020B0604020202020204" pitchFamily="34" charset="0"/>
              </a:rPr>
              <a:t>Approve the direction for the next bounded evaluation - not production deployment.</a:t>
            </a:r>
            <a:endParaRPr lang="en-SG" sz="2300" b="1">
              <a:solidFill>
                <a:srgbClr val="0F766E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05600" y="35560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SG" b="1" smtClean="0">
                <a:solidFill>
                  <a:srgbClr val="0369A1"/>
                </a:solidFill>
                <a:latin typeface="Arial" panose="020B0604020202020204" pitchFamily="34" charset="0"/>
              </a:rPr>
              <a:t>DIRECTION APPROVAL ONLY</a:t>
            </a:r>
            <a:endParaRPr lang="en-SG" b="1">
              <a:solidFill>
                <a:srgbClr val="0369A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05600" y="4191000"/>
            <a:ext cx="4572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smtClean="0">
                <a:solidFill>
                  <a:srgbClr val="5B6B7C"/>
                </a:solidFill>
                <a:latin typeface="Arial" panose="020B0604020202020204" pitchFamily="34" charset="0"/>
              </a:rPr>
              <a:t>Deferred: technical requirements → design specification → controlled implementation planning</a:t>
            </a:r>
            <a:endParaRPr lang="en-SG" sz="1300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50000" y="5524500"/>
            <a:ext cx="5270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smtClean="0">
                <a:solidFill>
                  <a:srgbClr val="5B6B7C"/>
                </a:solidFill>
                <a:latin typeface="Arial" panose="020B0604020202020204" pitchFamily="34" charset="0"/>
              </a:rPr>
              <a:t>Live AWS, IAM, SSM Automation, multi-account scale, production deployment, and 100 percent compliance remain NOT PROVEN.</a:t>
            </a:r>
            <a:endParaRPr lang="en-SG" sz="1300">
              <a:solidFill>
                <a:srgbClr val="5B6B7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915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889</Words>
  <Application>Microsoft Office PowerPoint</Application>
  <PresentationFormat>Custom</PresentationFormat>
  <Paragraphs>121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AgentGuard</dc:creator>
  <cp:lastModifiedBy>AgentGuard</cp:lastModifiedBy>
  <cp:revision>1</cp:revision>
  <dcterms:created xsi:type="dcterms:W3CDTF">2026-08-27T03:29:09Z</dcterms:created>
  <dcterms:modified xsi:type="dcterms:W3CDTF">2026-08-27T03:29:09Z</dcterms:modified>
</cp:coreProperties>
</file>